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5" r:id="rId18"/>
    <p:sldId id="272" r:id="rId19"/>
    <p:sldId id="276" r:id="rId20"/>
    <p:sldId id="274" r:id="rId21"/>
    <p:sldId id="278" r:id="rId22"/>
    <p:sldId id="279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/>
    <p:restoredTop sz="94626"/>
  </p:normalViewPr>
  <p:slideViewPr>
    <p:cSldViewPr snapToGrid="0" snapToObjects="1">
      <p:cViewPr>
        <p:scale>
          <a:sx n="145" d="100"/>
          <a:sy n="145" d="100"/>
        </p:scale>
        <p:origin x="7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0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34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sentiment principal component analysis is just the PC of the diffusion index, expansion share, and contraction 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Extracting Investment Signals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LLM Analysis of Earnings Call Transcripts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Earnings Calls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conference where company executives discuss financial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2011680"/>
          </a:xfrm>
          <a:prstGeom prst="rect">
            <a:avLst/>
          </a:prstGeom>
          <a:solidFill>
            <a:srgbClr val="FFF9E6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Prepared Remarks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CEO/CFO present results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discussion of: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Revenue &amp; earnings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Market conditions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Strategic initiatives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Future outlook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840480" cy="201168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Q&amp;A Session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Analysts ask questions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Unscripted responses reveal: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Investment plans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Project delays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Supply chain issues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Future concerns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657600"/>
            <a:ext cx="6400800" cy="11887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4480" y="37947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Quote: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40690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planning to invest $850M in new equipment this year, though supply chain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may push some deliveries into Q3. We're highly confident in demand."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Challenge: Unstructured 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earnings call transcript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749040" cy="3474720"/>
          </a:xfrm>
          <a:prstGeom prst="rect">
            <a:avLst/>
          </a:prstGeom>
          <a:solidFill>
            <a:srgbClr val="FFFA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Call 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10,000-30,000 words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Mix of prepared &amp; spontaneous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Investment info scattered throughout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Vague language: "looking to expand"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Conditional statements: "if conditions"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Multiple projects discussed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Competing signals (expand + delay)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2743200"/>
            <a:ext cx="731520" cy="365760"/>
          </a:xfrm>
          <a:prstGeom prst="rightArrow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77840" y="1280160"/>
            <a:ext cx="2834640" cy="34747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18288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Direction: Expanding? Contracting?</a:t>
            </a:r>
            <a:endParaRPr lang="en-US" sz="11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</a:t>
            </a: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Equipment? Structures? IP?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Constraints mentioned?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level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Timeline: near vs long-term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Solution: Large Language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LLM?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system trained on vast amounts of text that can: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Understand context and meaning (not just keywords)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Extract specific information from complex documents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Follow detailed instructions consistently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Output structured data (like filling out a form)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 Over Traditional Methods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3749040" cy="164592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Keyword 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Misses context</a:t>
            </a:r>
            <a:endParaRPr lang="en-US" sz="1200" dirty="0"/>
          </a:p>
          <a:p>
            <a:pPr marL="342900" lvl="1">
              <a:buSzPct val="100000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"We plan to NOT expand”</a:t>
            </a:r>
            <a:endParaRPr lang="en-US" sz="1200" i="1" dirty="0"/>
          </a:p>
          <a:p>
            <a:pPr marL="571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"expand" = FALSE POSITIVE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Can't handle complex language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Rigid rules break easily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383280"/>
            <a:ext cx="3749040" cy="164592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LLM Approach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Understands negation</a:t>
            </a:r>
            <a:endParaRPr lang="en-US" sz="1200" dirty="0"/>
          </a:p>
          <a:p>
            <a:pPr marL="342900" lvl="1">
              <a:buSzPct val="100000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"We plan to NOT expand"</a:t>
            </a: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Synthesizes across document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”We are leaving the region”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– can often identify the region from context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Sourcing Earnings Call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FactSet via SQL Query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query RBC Elements’ data to pull all final-version earnings transcripts from the last decade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Criteria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that discuss US presence*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74320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834640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2016 - present (quarterly transcripts)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 Size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 &gt; $250M total investment discussion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74320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58000" y="3291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Filter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Discusses investments in US operations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617720"/>
            <a:ext cx="5486400" cy="50292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11680" y="47548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Dataset: ~200,000 Earnings Call Transcripts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Designing the LLM Prompt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'prompt' is our instruction to the LLM - like a survey questionnaire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Components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468880" cy="3108960"/>
          </a:xfrm>
          <a:prstGeom prst="rect">
            <a:avLst/>
          </a:prstGeom>
          <a:solidFill>
            <a:srgbClr val="FFF9E6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194560" cy="1270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tell the LLM: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document type</a:t>
            </a:r>
            <a:endParaRPr lang="en-US" sz="1100" dirty="0"/>
          </a:p>
          <a:p>
            <a:pPr marL="0" lvl="1" indent="0">
              <a:buNone/>
            </a:pPr>
            <a:r>
              <a:rPr lang="en-US" sz="9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(earnings call)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we're analyzing</a:t>
            </a:r>
            <a:endParaRPr lang="en-US" sz="1100" dirty="0"/>
          </a:p>
          <a:p>
            <a:pPr marL="0" lvl="1" indent="0">
              <a:buNone/>
            </a:pPr>
            <a:r>
              <a:rPr lang="en-US" sz="9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(investment signals)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definitions</a:t>
            </a:r>
            <a:endParaRPr lang="en-US" sz="1100" dirty="0"/>
          </a:p>
          <a:p>
            <a:pPr marL="0" lvl="1" indent="0">
              <a:buNone/>
            </a:pPr>
            <a:r>
              <a:rPr lang="en-US" sz="9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(What is "expansion"?)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468880" cy="3108960"/>
          </a:xfrm>
          <a:prstGeom prst="rect">
            <a:avLst/>
          </a:prstGeom>
          <a:solidFill>
            <a:srgbClr val="E8F4F8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Instructions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148839"/>
            <a:ext cx="2194560" cy="2080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questions we want answered: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firm expanding</a:t>
            </a:r>
            <a:endParaRPr lang="en-US" sz="1100" dirty="0"/>
          </a:p>
          <a:p>
            <a:pPr marL="0" lvl="1" indent="0">
              <a:buNone/>
            </a:pPr>
            <a:r>
              <a:rPr lang="en-US" sz="9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 contracting?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many unique investments discussed? If discussed, what $ amount?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BEA category?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 they discuss barriers?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Record the exact word for word description of the barriers.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level?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2468880" cy="310896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Output Format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0760" y="2148839"/>
            <a:ext cx="2194560" cy="1590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JSON output: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fields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format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Machine-readable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Practically an excel table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data: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Conservative coding</a:t>
            </a:r>
            <a:endParaRPr lang="en-US" sz="1100" dirty="0"/>
          </a:p>
          <a:p>
            <a:pPr lvl="1">
              <a:buSzPct val="100000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unclear → null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Example (Simplified)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40233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498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analyzing an earnings call transcript.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2C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Extract investment signals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transcript, identify: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directional_signal: Is firm expanding or contracting capital?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amount_usd: Dollar amount mentioned (if any)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bea_category: equipment, structures, or IP?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execution_constraint: Supply chain or labor issues? (true/false)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confidence: How confident is management? (high/medium/low)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Return JSON with these exact field names.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information is unclear or not mentioned, return null for that field.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947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Processing Each Transcript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7604" y="1015063"/>
            <a:ext cx="1793859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we 'run' the LLM?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51463" y="667591"/>
            <a:ext cx="6400800" cy="5486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34343" y="740743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865863" y="740743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earnings call transcript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77543" y="1234519"/>
            <a:ext cx="548640" cy="274320"/>
          </a:xfrm>
          <a:prstGeom prst="downArrow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51463" y="1536271"/>
            <a:ext cx="6400800" cy="54864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34343" y="1609423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65863" y="1609423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to LLM with our prompt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77543" y="2103199"/>
            <a:ext cx="548640" cy="274320"/>
          </a:xfrm>
          <a:prstGeom prst="downArrow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51463" y="2404951"/>
            <a:ext cx="6400800" cy="548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4343" y="2478103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65863" y="2478103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reads entire document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77543" y="2971879"/>
            <a:ext cx="548640" cy="274320"/>
          </a:xfrm>
          <a:prstGeom prst="downArrow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51463" y="3273631"/>
            <a:ext cx="6400800" cy="5486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34343" y="3346783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65863" y="3346783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extracts requested info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77543" y="3840559"/>
            <a:ext cx="548640" cy="274320"/>
          </a:xfrm>
          <a:prstGeom prst="downArrow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51463" y="4142311"/>
            <a:ext cx="6400800" cy="5486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34343" y="4215463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65863" y="4215463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structured JSON output, local data validation process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4533" y="4782391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repeat this for all 200,000 transcripts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Structured JSON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 from one earnings call (simplified):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70815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"company": "Stolt-Nielsen Limited",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2C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"directional_signal": "expansion",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52C1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”projects identified": {</a:t>
            </a:r>
            <a:endParaRPr lang="en-US" sz="800" dirty="0">
              <a:solidFill>
                <a:srgbClr val="3498D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</a:p>
          <a:p>
            <a:r>
              <a:rPr lang="en-US" sz="8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["bea_category": "equipment",</a:t>
            </a:r>
          </a:p>
          <a:p>
            <a:endParaRPr lang="en-US" sz="800" dirty="0">
              <a:solidFill>
                <a:srgbClr val="3498D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”</a:t>
            </a:r>
            <a:r>
              <a:rPr lang="en-US" sz="800" dirty="0" err="1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amount_usd</a:t>
            </a:r>
            <a:r>
              <a:rPr lang="en-US" sz="8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”$800,000,000",</a:t>
            </a:r>
          </a:p>
          <a:p>
            <a:endParaRPr lang="en-US" sz="800" dirty="0"/>
          </a:p>
          <a:p>
            <a:r>
              <a:rPr lang="en-US" sz="8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"bea_subcategory": "</a:t>
            </a:r>
            <a:r>
              <a:rPr lang="en-US" sz="800" dirty="0" err="1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information_processing</a:t>
            </a:r>
            <a:r>
              <a:rPr lang="en-US" sz="8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”]</a:t>
            </a:r>
            <a:r>
              <a:rPr lang="en-US" sz="8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8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"execution_constraint_mentioned": true,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"execution_barrier_severity": "medium",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"financial_condition": "loosening",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"high",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"strategic_context": {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"overall_investment_sentiment": "highly_expansionary"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5: Converting JSON to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transcript becomes one row in our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96548"/>
              </p:ext>
            </p:extLst>
          </p:nvPr>
        </p:nvGraphicFramePr>
        <p:xfrm>
          <a:off x="731520" y="1508760"/>
          <a:ext cx="7680960" cy="3108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Assessment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Projects Sum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Focus?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Constraints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 Confidence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Acme Corp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Gamma LLC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[Row 200,000]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have structured data ready for aggregation!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6: Building the Hesitation Index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Create a single metric that captures investment hesitation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7315200" cy="2926080"/>
          </a:xfrm>
          <a:prstGeom prst="rect">
            <a:avLst/>
          </a:prstGeom>
          <a:solidFill>
            <a:srgbClr val="FFF9E6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6949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indicators of hesitation: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Momentum Drops - Firms that were expanding but are now decelerating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Execution Barriers - Supply chain disruptions, labor shortages, etc.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Delays/Cancellations - Projects explicitly marked as delayed or cancelled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Financial Tightening - Firms citing financial constraints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Loosening - Easier financing (enters with NEGATIVE weight)</a:t>
            </a: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EA2E6-20E9-1485-4560-7993A805CFF7}"/>
              </a:ext>
            </a:extLst>
          </p:cNvPr>
          <p:cNvSpPr txBox="1"/>
          <p:nvPr/>
        </p:nvSpPr>
        <p:spPr>
          <a:xfrm>
            <a:off x="379142" y="4707374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*Weighted by NAICS industry codes to match BEA investment composition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1: Momentum Drop 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firms that are expanding yet decelerating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Momentum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2023: "We're expanding rapidly"</a:t>
            </a:r>
            <a:endParaRPr lang="en-US" sz="1100" dirty="0"/>
          </a:p>
          <a:p>
            <a:pPr marL="685800" lvl="1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Overall signal = +1.0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2024: ”Considering investment in AI"</a:t>
            </a:r>
            <a:endParaRPr lang="en-US" sz="1100" dirty="0"/>
          </a:p>
          <a:p>
            <a:pPr marL="685800" lvl="1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Overall signal = +0.8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Momentum DROP flagged 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137160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Momentum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2023: "We're contracting"</a:t>
            </a:r>
            <a:endParaRPr lang="en-US" sz="1100" dirty="0"/>
          </a:p>
          <a:p>
            <a:pPr marL="685800" lvl="1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Overall signal = -0.5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2024: ”May need to kill project…."</a:t>
            </a:r>
            <a:endParaRPr lang="en-US" sz="1100" dirty="0"/>
          </a:p>
          <a:p>
            <a:pPr marL="685800" lvl="1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Overall signal = -0.3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 a momentum drop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at Quarterly Level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3474720"/>
            <a:ext cx="6400800" cy="14630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61188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quarter: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momentum_drop_share = (# firms with previous signal &gt; 0.15 AND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current signal dropped &gt; 30%) /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(total # firms in dataset)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2: Execution Barrier 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constraints that impede investment execution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LLM Looks For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73152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"Supply chain disruptions delaying equipment orders"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0" y="1874520"/>
            <a:ext cx="1188720" cy="3200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73152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"Permitting issues holding up construction"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560320"/>
            <a:ext cx="1188720" cy="3200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108960"/>
            <a:ext cx="73152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"Labor shortages impacting project timelines"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3246120"/>
            <a:ext cx="1188720" cy="3200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3246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"Minor delays but nothing material"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931920"/>
            <a:ext cx="1188720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3931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0" y="459857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1600" y="4480560"/>
            <a:ext cx="6400800" cy="6400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54480" y="4617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barrier_share = (# firms flagging execution_constraint = true) / (total # firms)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3: Delays/Cancellations 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explicitly postponing or cancelling investment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329184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That Flag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00400" cy="19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"We've delayed the facility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expansion to Q3"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"The project has been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postponed indefinitely"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"We've cancelled the capex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initiative"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"Holding off on that investment"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749040" cy="329184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That Don't Flag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474720" cy="19975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"Timeline unchanged"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"On track for completion"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"Accelerating our investment"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"Normal project timing"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4736592"/>
            <a:ext cx="6400800" cy="36576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4480" y="4919472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delay_cancel_share = firms with (delayed OR cancelled) projects / total firms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Components 4 &amp; 5: Financial Conditions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changes in firms' financial environment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329184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Tightening (+)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"Credit conditions tightening"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"Higher borrowing costs"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"Limited access to capital"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"Cash flow pressures"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facing financial headwinds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May hesitate to invest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749040" cy="329184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Loosening (-)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9659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"Easier access to credit"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"Lower interest rates"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"Strong cash position"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"Ample liquidity"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Favorable financial conditions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Enters with NEGATIVE weight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 Weighting (NAICS Codes)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proper industry representation to match BEA investment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7315200" cy="9144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 all industries invest equally in capital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Manufacturing invests heavily in equipment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 invests heavily in IP (software, R&amp;D)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Retail invests less overall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7315200" cy="173736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 each firm by its industry's share of total BEA investment from Table 3.7E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NAICS codes → BEA industry categories → annual investment shares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Example: If manufacturing = 30% of total NFRI,</a:t>
            </a:r>
            <a:endParaRPr lang="en-US" sz="1300" dirty="0"/>
          </a:p>
          <a:p>
            <a:pPr marL="0" lvl="1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then manufacturing firms get 30% weight in our index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Result: Our index reflects actual economy-wide investment composition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49564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7: Principal Component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Isolating the most relevant investment signals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PCA?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7315200" cy="13716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you have three correlated measures: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Hesitation score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Urgency score (how quickly firms want to act)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Average time horizon (near-term vs long-term thinking)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finds the underlying patterns that explain their co-movement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PCA?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7315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noise - extracts the "signal" from correlated measures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only with the theoretical vectors of importance, the factors you truly care about but can’t directly measure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Hypothesized: PC2 captures behavioral "patience with planning"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Combining Into the Hesitation Index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815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of all five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62575"/>
            <a:ext cx="7315200" cy="146304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487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Initial_hesitation_score</a:t>
            </a:r>
            <a:r>
              <a:rPr lang="en-US" sz="15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8516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PCA(</a:t>
            </a:r>
            <a:r>
              <a:rPr lang="en-US" sz="13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momentum_drop_share</a:t>
            </a: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execution_barrier_share</a:t>
            </a: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delay_cancel_share</a:t>
            </a: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tightening_share</a:t>
            </a: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loosening_share</a:t>
            </a: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C3E5F36-6094-D08E-A171-9C3A702E1BE4}"/>
              </a:ext>
            </a:extLst>
          </p:cNvPr>
          <p:cNvSpPr/>
          <p:nvPr/>
        </p:nvSpPr>
        <p:spPr>
          <a:xfrm>
            <a:off x="457200" y="3648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data collected, we also produce many other types of indices. For example, we can construct a diffusion index of sentiment simply from the up/down signal recorded.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Key Finding: PC2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principal component is our behavioral investment signal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3474720"/>
          </a:xfrm>
          <a:prstGeom prst="rect">
            <a:avLst/>
          </a:prstGeom>
          <a:solidFill>
            <a:srgbClr val="FFEBEE"/>
          </a:solidFill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PC2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hesitation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 time horizons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Firms thinking quarter-to-quarter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"Wait and see" mentality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confidence, impatient,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planning environment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Predicts LOWER investment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749040" cy="3474720"/>
          </a:xfrm>
          <a:prstGeom prst="rect">
            <a:avLst/>
          </a:prstGeom>
          <a:solidFill>
            <a:srgbClr val="E8F8F5"/>
          </a:solidFill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PC2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hesitation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time horizons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Firms planning years ahead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"Full steam ahead" mentality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confidence, patient,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planning environment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Predicts HIGHER investment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Result: Quarterly Time Series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hesitation score per quarter, 2016 – present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We do not just produce a hesitation score, but a dozen or so similar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Hesitation Score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0" cy="228600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4297680"/>
            <a:ext cx="64008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= Less hesitation, longer investment horizons, confidence and planning etc.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4805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44805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2016...Q1 2020...Q1 2024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flipV="1">
            <a:off x="1645920" y="3200399"/>
            <a:ext cx="640042" cy="365761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0" y="3200400"/>
            <a:ext cx="640080" cy="27432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3474720"/>
            <a:ext cx="640080" cy="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3566122" y="2468878"/>
            <a:ext cx="640019" cy="1005835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2468880"/>
            <a:ext cx="640080" cy="64008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640080" cy="54864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5486400" y="3291840"/>
            <a:ext cx="639981" cy="36576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3291840"/>
            <a:ext cx="640080" cy="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Performing Indicators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261141"/>
              </p:ext>
            </p:extLst>
          </p:nvPr>
        </p:nvGraphicFramePr>
        <p:xfrm>
          <a:off x="640080" y="1188720"/>
          <a:ext cx="7863840" cy="2606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 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Predictor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Investment YoY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hesitation_index_yoy(t-1)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Quarters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 Manufacturing Level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hesitation_index_yoy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(t-3)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Quarters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 Growth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hesitation_index_yoy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(t-6)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Quarters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Structures Growth YoY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Arial" charset="0"/>
                          <a:ea typeface="Arial" charset="0"/>
                          <a:cs typeface="Arial" charset="0"/>
                        </a:rPr>
                        <a:t>Principal component 1 (sentiment)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Quarters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75321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3863340"/>
            <a:ext cx="7315200" cy="118872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97280" y="39547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42748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Hesitation index shows strong predictive power 6 quarters ahead (r=.77)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Structures investment best predicted by near-term sentiment (2Q lead)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 investment also shows 6-quarter predictability via hesitation PC result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&amp; Extensions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5087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with older data (2000’s)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Incorporate sector-level granularity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alternative LLM models (Llama, Claude)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768096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 to international firms? (non-US markets)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 analyst reports as complementary signal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real-time dashboard for monitoring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Prediction models currently in the works but interesting preliminary results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Cross-Validation &amp; Model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72 model configurations (4 targets × 3 transformations × 3 feature sets allowed × 2 models)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(BEA/BLS Data)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NFRI investment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Equipment subcategory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Structures subcategory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Intellectual property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YoY, QoQ, Index (level)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Window Setup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20 quarters (5 years)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2 quarters ahead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size: 2 quarters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folds total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net (ℓ1) &amp; Ridge (ℓ2)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RMSE, correlation, directional 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504 individual models tested across all combinations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2211</Words>
  <Application>Microsoft Macintosh PowerPoint</Application>
  <PresentationFormat>On-screen Show (16:9)</PresentationFormat>
  <Paragraphs>438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LLM-Based NFRI Investment Signal Extraction</dc:title>
  <dc:subject>PptxGenJS Presentation</dc:subject>
  <dc:creator>Economics Research Team</dc:creator>
  <cp:lastModifiedBy>Haggin, Imri J</cp:lastModifiedBy>
  <cp:revision>48</cp:revision>
  <dcterms:created xsi:type="dcterms:W3CDTF">2026-02-27T16:08:42Z</dcterms:created>
  <dcterms:modified xsi:type="dcterms:W3CDTF">2026-02-27T17:42:59Z</dcterms:modified>
</cp:coreProperties>
</file>